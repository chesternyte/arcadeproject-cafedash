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1" d="100"/>
          <a:sy n="151" d="100"/>
        </p:scale>
        <p:origin x="654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7FAA16-B6BC-D444-5245-BF132AA963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B4F9BAD-E072-FA01-0892-639CFE3690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FAE7F8B-D49A-5707-A844-1BA5950697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880C5-7AA5-46A6-80F1-F6EDCF8BF66E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C1B3085-FD4F-2C90-C78F-B21DED895D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23DF5B6-4689-03E8-3FD7-424F834D0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ACD71-1ED1-45F3-9E12-7B8D5699C38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23626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409DFF-66E6-BB80-D30C-BC77A01BB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EEAAAE0-001E-DDDD-7C7E-A9551D6E9A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631FA3B-AEF7-BCD0-BADD-31FB143F07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880C5-7AA5-46A6-80F1-F6EDCF8BF66E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2963A2D-5B45-D1FB-7C18-0B3DCE93C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30A03E0-6876-6D58-736C-34C8EA62C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ACD71-1ED1-45F3-9E12-7B8D5699C38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19900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2553794-B76E-A74D-D29E-478C68A9A0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539C933-10A8-D452-8D5C-6A2EBA31E4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D0BC674-35C9-3026-EE83-38A75E62EA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880C5-7AA5-46A6-80F1-F6EDCF8BF66E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1FF8EB7-FF41-3A58-449B-93B2B2C40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5B04F58-B5CF-D7C7-F94E-9FC0FC49E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ACD71-1ED1-45F3-9E12-7B8D5699C38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88366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19E07E-10D8-5E89-0001-3F297F40A0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4BA239B-D384-F09F-F234-C215BB43DC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0E71EEB-7C99-E11B-473C-E1A7CDE4C8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0593DE1-93C8-8185-D468-C20713E57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880C5-7AA5-46A6-80F1-F6EDCF8BF66E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559760D-66DF-4865-175C-E9B219633F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C312226-3050-C9A1-2F79-EB21DA270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ACD71-1ED1-45F3-9E12-7B8D5699C38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7519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E30EEC-4C40-7E00-0BD4-98440EB5E8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6B8910A-72D9-E21D-5377-5ED5B99A76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7FBD3B6-704A-5F31-C73E-7096AE027B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FA966AD0-E199-5822-D5A2-6F8CDD7084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2059A644-7483-C87B-0A06-5F3EFCF36F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4EAA5E3E-32FD-9779-4828-89C578E7C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880C5-7AA5-46A6-80F1-F6EDCF8BF66E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B2A5083C-6093-5156-0780-85E87A442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DA70AC9A-F1AE-E557-BDCC-22FC81AEC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ACD71-1ED1-45F3-9E12-7B8D5699C38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977973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980021-D0BB-00FF-8274-AF33DDFBD4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86D5939B-0232-60C0-0457-218C0BFB0C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880C5-7AA5-46A6-80F1-F6EDCF8BF66E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8E23BAEE-BE76-2AAB-6048-69102F9C7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7202B02-4494-ACE7-1072-77CFB4B00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ACD71-1ED1-45F3-9E12-7B8D5699C38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60307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96A5156C-A562-3D5B-B1CC-EC7342B3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880C5-7AA5-46A6-80F1-F6EDCF8BF66E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66C58E83-BA1E-C0A8-EDB2-9940E298A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C41176B-3C4E-684C-ED64-21C61EB66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ACD71-1ED1-45F3-9E12-7B8D5699C38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396245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68B75B-3911-E628-CF20-2532D7476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1E52573-2B84-0725-926F-5A8B6EB860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6FE379C-1A1A-3A8E-C686-311CD98CA6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8A24890-D272-FDA8-3AD4-ABA8CF4D42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880C5-7AA5-46A6-80F1-F6EDCF8BF66E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08B90BE-CC3B-3B77-7153-0D145C640C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FAF051C-B974-0282-A205-F001959F16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ACD71-1ED1-45F3-9E12-7B8D5699C38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040580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96F2D4-4F3A-399D-47B2-11A5E1BDA5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3F3C409A-5005-FD4E-669E-DD5DF94A83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7B18694-BD1D-85DC-358C-CAAA1A8A98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FC4EBF3-B838-640D-22B1-A0089B963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880C5-7AA5-46A6-80F1-F6EDCF8BF66E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AD3DFBB-FE90-14C4-CF1F-85E72123D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C2B7C4E-77AD-0BB5-1357-68127AF09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ACD71-1ED1-45F3-9E12-7B8D5699C38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792587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E97DBA-C04D-F3DB-A9A3-4514CEC6CD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3B2AB14-DADD-0F6E-044D-49C423F264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C024309-A99A-C6E9-326E-135D57F3C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880C5-7AA5-46A6-80F1-F6EDCF8BF66E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6982329-CADA-7CAB-BB85-F71B1C7C3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393E88E-EDE3-0726-B751-D0DBC4BB6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ACD71-1ED1-45F3-9E12-7B8D5699C38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224290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30BCDF13-33F6-24E1-967E-EC672EA846A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A0230BD-FB70-C418-433E-1F581C3259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EC12731-9A26-B9B4-95D4-8A010394F7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880C5-7AA5-46A6-80F1-F6EDCF8BF66E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1341A82-2A23-B388-5B0D-BBD665D4F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A6E3714-D94E-ABFF-3F7E-66F360C37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ACD71-1ED1-45F3-9E12-7B8D5699C38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164858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3EB116-85C5-A6D8-ACF1-6F845B53C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AD56E73-DE5C-05CC-6114-2B7BB5E7CA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04D167E-D97E-14CB-C2CD-514202C582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D880C5-7AA5-46A6-80F1-F6EDCF8BF66E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1500BDA-B3A7-4933-0332-EB072866AC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2AE72D5-8798-8E37-9235-E699C9C772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DACD71-1ED1-45F3-9E12-7B8D5699C38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23480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2F02DB9-F810-43FA-7122-00F05D9A47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3491D6-B3C2-7AA4-40DD-F2F555F8A4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"/>
            <a:ext cx="5359400" cy="1847850"/>
          </a:xfrm>
        </p:spPr>
        <p:txBody>
          <a:bodyPr/>
          <a:lstStyle/>
          <a:p>
            <a:r>
              <a:rPr lang="ru-RU" dirty="0"/>
              <a:t>Проект </a:t>
            </a:r>
            <a:r>
              <a:rPr lang="en-US" dirty="0"/>
              <a:t>Arcade</a:t>
            </a:r>
            <a:br>
              <a:rPr lang="en-US" dirty="0"/>
            </a:br>
            <a:r>
              <a:rPr lang="en-US" dirty="0"/>
              <a:t>“Cafe dash”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73C980E-0577-0481-5C15-E927B121A7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87317" y="5861127"/>
            <a:ext cx="7804683" cy="996872"/>
          </a:xfrm>
        </p:spPr>
        <p:txBody>
          <a:bodyPr>
            <a:normAutofit lnSpcReduction="10000"/>
          </a:bodyPr>
          <a:lstStyle/>
          <a:p>
            <a:r>
              <a:rPr lang="ru-RU" dirty="0"/>
              <a:t>Над проектом работали</a:t>
            </a:r>
            <a:r>
              <a:rPr lang="en-US" dirty="0"/>
              <a:t>:</a:t>
            </a:r>
            <a:br>
              <a:rPr lang="en-US" dirty="0"/>
            </a:br>
            <a:r>
              <a:rPr lang="ru-RU" dirty="0"/>
              <a:t>Казаков Марк Александрович, Гурзиевский Платон Александрович</a:t>
            </a:r>
          </a:p>
        </p:txBody>
      </p:sp>
    </p:spTree>
    <p:extLst>
      <p:ext uri="{BB962C8B-B14F-4D97-AF65-F5344CB8AC3E}">
        <p14:creationId xmlns:p14="http://schemas.microsoft.com/office/powerpoint/2010/main" val="3855950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798D238-6903-F8FE-82CB-413482A638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1A8D8E6-3C07-3370-2F80-2F99A8697264}"/>
              </a:ext>
            </a:extLst>
          </p:cNvPr>
          <p:cNvSpPr txBox="1"/>
          <p:nvPr/>
        </p:nvSpPr>
        <p:spPr>
          <a:xfrm>
            <a:off x="457200" y="421242"/>
            <a:ext cx="184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/>
          </a:p>
          <a:p>
            <a:endParaRPr lang="ru-RU" dirty="0"/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6F73FCBE-00DD-40AB-D6B3-D71AABBF8610}"/>
              </a:ext>
            </a:extLst>
          </p:cNvPr>
          <p:cNvSpPr/>
          <p:nvPr/>
        </p:nvSpPr>
        <p:spPr>
          <a:xfrm>
            <a:off x="203199" y="666750"/>
            <a:ext cx="4102100" cy="5181600"/>
          </a:xfrm>
          <a:prstGeom prst="roundRect">
            <a:avLst/>
          </a:prstGeom>
          <a:gradFill flip="none" rotWithShape="1">
            <a:gsLst>
              <a:gs pos="0">
                <a:schemeClr val="lt1">
                  <a:shade val="30000"/>
                  <a:satMod val="115000"/>
                </a:schemeClr>
              </a:gs>
              <a:gs pos="50000">
                <a:schemeClr val="lt1">
                  <a:shade val="67500"/>
                  <a:satMod val="115000"/>
                </a:schemeClr>
              </a:gs>
              <a:gs pos="100000">
                <a:schemeClr val="lt1">
                  <a:shade val="100000"/>
                  <a:satMod val="115000"/>
                </a:schemeClr>
              </a:gs>
            </a:gsLst>
            <a:path path="circle">
              <a:fillToRect l="100000" t="100000"/>
            </a:path>
            <a:tileRect r="-100000" b="-100000"/>
          </a:gra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298AB8-2058-BBDD-87EE-4D40EFE7BB73}"/>
              </a:ext>
            </a:extLst>
          </p:cNvPr>
          <p:cNvSpPr txBox="1"/>
          <p:nvPr/>
        </p:nvSpPr>
        <p:spPr>
          <a:xfrm>
            <a:off x="609890" y="2215029"/>
            <a:ext cx="328871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Bahnschrift Light Condensed" panose="020B0502040204020203" pitchFamily="34" charset="0"/>
              </a:rPr>
              <a:t>Так как это проект по теме </a:t>
            </a:r>
            <a:r>
              <a:rPr lang="en-US" dirty="0">
                <a:latin typeface="Bahnschrift Light Condensed" panose="020B0502040204020203" pitchFamily="34" charset="0"/>
              </a:rPr>
              <a:t>ARCADE</a:t>
            </a:r>
            <a:r>
              <a:rPr lang="ru-RU" dirty="0">
                <a:latin typeface="Bahnschrift Light Condensed" panose="020B0502040204020203" pitchFamily="34" charset="0"/>
              </a:rPr>
              <a:t>, единственная цель была создать игру в которую будет интересно и приятно играть.</a:t>
            </a:r>
          </a:p>
          <a:p>
            <a:r>
              <a:rPr lang="ru-RU" dirty="0">
                <a:latin typeface="Bahnschrift Light Condensed" panose="020B0502040204020203" pitchFamily="34" charset="0"/>
              </a:rPr>
              <a:t>За время работы, мы научились создавать свои спрайты, писать код</a:t>
            </a:r>
          </a:p>
          <a:p>
            <a:r>
              <a:rPr lang="ru-RU" dirty="0">
                <a:latin typeface="Bahnschrift Light Condensed" panose="020B0502040204020203" pitchFamily="34" charset="0"/>
              </a:rPr>
              <a:t>Использую библиотеку </a:t>
            </a:r>
            <a:r>
              <a:rPr lang="en-US" dirty="0">
                <a:latin typeface="Bahnschrift Light Condensed" panose="020B0502040204020203" pitchFamily="34" charset="0"/>
              </a:rPr>
              <a:t>ARCADE</a:t>
            </a:r>
            <a:r>
              <a:rPr lang="ru-RU" dirty="0">
                <a:latin typeface="Bahnschrift Light Condensed" panose="020B0502040204020203" pitchFamily="34" charset="0"/>
              </a:rPr>
              <a:t> и много чего ещё.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3B88F2-963E-A525-A9D5-E7028AFC1DC1}"/>
              </a:ext>
            </a:extLst>
          </p:cNvPr>
          <p:cNvSpPr txBox="1"/>
          <p:nvPr/>
        </p:nvSpPr>
        <p:spPr>
          <a:xfrm>
            <a:off x="1298698" y="882907"/>
            <a:ext cx="19111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>
                <a:latin typeface="Bahnschrift" panose="020B0502040204020203" pitchFamily="34" charset="0"/>
              </a:rPr>
              <a:t>ЦЕЛЬ ПРОЕКТА</a:t>
            </a:r>
            <a:r>
              <a:rPr lang="en-US" b="1" dirty="0">
                <a:latin typeface="Bahnschrift" panose="020B0502040204020203" pitchFamily="34" charset="0"/>
              </a:rPr>
              <a:t>:</a:t>
            </a:r>
            <a:endParaRPr lang="ru-RU" b="1" dirty="0">
              <a:latin typeface="Bahnschrift" panose="020B0502040204020203" pitchFamily="34" charset="0"/>
            </a:endParaRPr>
          </a:p>
        </p:txBody>
      </p:sp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B8F06C89-D4C1-28DD-ED53-EEEF82DFF13A}"/>
              </a:ext>
            </a:extLst>
          </p:cNvPr>
          <p:cNvSpPr/>
          <p:nvPr/>
        </p:nvSpPr>
        <p:spPr>
          <a:xfrm>
            <a:off x="7073732" y="666750"/>
            <a:ext cx="4102100" cy="5181600"/>
          </a:xfrm>
          <a:prstGeom prst="roundRect">
            <a:avLst/>
          </a:prstGeom>
          <a:gradFill flip="none" rotWithShape="1">
            <a:gsLst>
              <a:gs pos="0">
                <a:schemeClr val="lt1">
                  <a:shade val="30000"/>
                  <a:satMod val="115000"/>
                </a:schemeClr>
              </a:gs>
              <a:gs pos="50000">
                <a:schemeClr val="lt1">
                  <a:shade val="67500"/>
                  <a:satMod val="115000"/>
                </a:schemeClr>
              </a:gs>
              <a:gs pos="100000">
                <a:schemeClr val="lt1">
                  <a:shade val="100000"/>
                  <a:satMod val="115000"/>
                </a:schemeClr>
              </a:gs>
            </a:gsLst>
            <a:path path="circle">
              <a:fillToRect l="100000" t="100000"/>
            </a:path>
            <a:tileRect r="-100000" b="-100000"/>
          </a:gra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825057-BFDC-15ED-7AE2-1B2622418537}"/>
              </a:ext>
            </a:extLst>
          </p:cNvPr>
          <p:cNvSpPr txBox="1"/>
          <p:nvPr/>
        </p:nvSpPr>
        <p:spPr>
          <a:xfrm>
            <a:off x="8169232" y="882907"/>
            <a:ext cx="19046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>
                <a:latin typeface="Bahnschrift" panose="020B0502040204020203" pitchFamily="34" charset="0"/>
              </a:rPr>
              <a:t>ИДЕЯ ПРОЕКТА</a:t>
            </a:r>
            <a:r>
              <a:rPr lang="en-US" b="1" dirty="0">
                <a:latin typeface="Bahnschrift" panose="020B0502040204020203" pitchFamily="34" charset="0"/>
              </a:rPr>
              <a:t>:</a:t>
            </a:r>
            <a:endParaRPr lang="ru-RU" b="1" dirty="0">
              <a:latin typeface="Bahnschrift" panose="020B0502040204020203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753812-4B15-8A1B-21A6-133D9848ECA1}"/>
              </a:ext>
            </a:extLst>
          </p:cNvPr>
          <p:cNvSpPr txBox="1"/>
          <p:nvPr/>
        </p:nvSpPr>
        <p:spPr>
          <a:xfrm>
            <a:off x="7477216" y="2215029"/>
            <a:ext cx="328871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Bahnschrift Light Condensed" panose="020B0502040204020203" pitchFamily="34" charset="0"/>
              </a:rPr>
              <a:t>Главный герой – официант в кафе. Со временем внутри будут появляться посетители. Игроку нужно обслуживать посетителей</a:t>
            </a:r>
            <a:r>
              <a:rPr lang="en-US" dirty="0">
                <a:latin typeface="Bahnschrift Light Condensed" panose="020B0502040204020203" pitchFamily="34" charset="0"/>
              </a:rPr>
              <a:t>: </a:t>
            </a:r>
            <a:r>
              <a:rPr lang="ru-RU" dirty="0">
                <a:latin typeface="Bahnschrift Light Condensed" panose="020B0502040204020203" pitchFamily="34" charset="0"/>
              </a:rPr>
              <a:t>принимать и приносить заказы. Если в течение некоторого времени мы не успеваем отдать заказ клиенту, то мы проигрываем и игра начинается сначала. Игра является бесконечной и с каждой волной посетители приходят быстрее.</a:t>
            </a:r>
          </a:p>
        </p:txBody>
      </p:sp>
    </p:spTree>
    <p:extLst>
      <p:ext uri="{BB962C8B-B14F-4D97-AF65-F5344CB8AC3E}">
        <p14:creationId xmlns:p14="http://schemas.microsoft.com/office/powerpoint/2010/main" val="1254378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C65F58D-FB6E-4931-38DC-29DAA38C5B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12151046-7D2A-5C23-F7AF-C11B8E808E74}"/>
              </a:ext>
            </a:extLst>
          </p:cNvPr>
          <p:cNvSpPr/>
          <p:nvPr/>
        </p:nvSpPr>
        <p:spPr>
          <a:xfrm>
            <a:off x="44450" y="1162050"/>
            <a:ext cx="12071349" cy="4270464"/>
          </a:xfrm>
          <a:prstGeom prst="roundRect">
            <a:avLst/>
          </a:prstGeom>
          <a:gradFill flip="none" rotWithShape="1">
            <a:gsLst>
              <a:gs pos="0">
                <a:schemeClr val="lt1">
                  <a:shade val="30000"/>
                  <a:satMod val="115000"/>
                </a:schemeClr>
              </a:gs>
              <a:gs pos="50000">
                <a:schemeClr val="lt1">
                  <a:shade val="67500"/>
                  <a:satMod val="115000"/>
                </a:schemeClr>
              </a:gs>
              <a:gs pos="100000">
                <a:schemeClr val="lt1">
                  <a:shade val="100000"/>
                  <a:satMod val="115000"/>
                </a:schemeClr>
              </a:gs>
            </a:gsLst>
            <a:path path="circle">
              <a:fillToRect l="100000" t="100000"/>
            </a:path>
            <a:tileRect r="-100000" b="-100000"/>
          </a:gra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FA8631A6-6EC6-F6F3-B463-6057444FDC40}"/>
              </a:ext>
            </a:extLst>
          </p:cNvPr>
          <p:cNvSpPr/>
          <p:nvPr/>
        </p:nvSpPr>
        <p:spPr>
          <a:xfrm>
            <a:off x="295274" y="1820896"/>
            <a:ext cx="3054349" cy="1200329"/>
          </a:xfrm>
          <a:prstGeom prst="roundRect">
            <a:avLst/>
          </a:prstGeom>
          <a:gradFill flip="none" rotWithShape="1">
            <a:gsLst>
              <a:gs pos="0">
                <a:schemeClr val="lt1">
                  <a:shade val="30000"/>
                  <a:satMod val="115000"/>
                </a:schemeClr>
              </a:gs>
              <a:gs pos="50000">
                <a:schemeClr val="lt1">
                  <a:shade val="67500"/>
                  <a:satMod val="115000"/>
                </a:schemeClr>
              </a:gs>
              <a:gs pos="100000">
                <a:schemeClr val="lt1">
                  <a:shade val="100000"/>
                  <a:satMod val="115000"/>
                </a:schemeClr>
              </a:gs>
            </a:gsLst>
            <a:path path="circle">
              <a:fillToRect l="100000" t="100000"/>
            </a:path>
            <a:tileRect r="-100000" b="-100000"/>
          </a:gra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Bahnschrift Light Condensed" panose="020B0502040204020203" pitchFamily="34" charset="0"/>
              </a:rPr>
              <a:t>Class Visitor:</a:t>
            </a:r>
            <a:br>
              <a:rPr lang="ru-RU" dirty="0">
                <a:latin typeface="Bahnschrift Light Condensed" panose="020B0502040204020203" pitchFamily="34" charset="0"/>
              </a:rPr>
            </a:br>
            <a:r>
              <a:rPr lang="ru-RU" dirty="0">
                <a:latin typeface="Bahnschrift Light Condensed" panose="020B0502040204020203" pitchFamily="34" charset="0"/>
              </a:rPr>
              <a:t>Класс отвечающий за появление и взаимодействие с гостям и.</a:t>
            </a:r>
            <a:endParaRPr lang="ru-RU" dirty="0"/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0EC1D962-440E-FC5C-0F4D-1F4059EA8F24}"/>
              </a:ext>
            </a:extLst>
          </p:cNvPr>
          <p:cNvSpPr/>
          <p:nvPr/>
        </p:nvSpPr>
        <p:spPr>
          <a:xfrm>
            <a:off x="3860798" y="1824160"/>
            <a:ext cx="3054349" cy="1200329"/>
          </a:xfrm>
          <a:prstGeom prst="roundRect">
            <a:avLst/>
          </a:prstGeom>
          <a:gradFill flip="none" rotWithShape="1">
            <a:gsLst>
              <a:gs pos="0">
                <a:schemeClr val="lt1">
                  <a:shade val="30000"/>
                  <a:satMod val="115000"/>
                </a:schemeClr>
              </a:gs>
              <a:gs pos="50000">
                <a:schemeClr val="lt1">
                  <a:shade val="67500"/>
                  <a:satMod val="115000"/>
                </a:schemeClr>
              </a:gs>
              <a:gs pos="100000">
                <a:schemeClr val="lt1">
                  <a:shade val="100000"/>
                  <a:satMod val="115000"/>
                </a:schemeClr>
              </a:gs>
            </a:gsLst>
            <a:path path="circle">
              <a:fillToRect l="100000" t="100000"/>
            </a:path>
            <a:tileRect r="-100000" b="-100000"/>
          </a:gra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dirty="0">
                <a:latin typeface="Bahnschrift Light Condensed" panose="020B0502040204020203" pitchFamily="34" charset="0"/>
              </a:rPr>
              <a:t>С</a:t>
            </a:r>
            <a:r>
              <a:rPr lang="en-US" dirty="0">
                <a:latin typeface="Bahnschrift Light Condensed" panose="020B0502040204020203" pitchFamily="34" charset="0"/>
              </a:rPr>
              <a:t>lass Courier:</a:t>
            </a:r>
            <a:br>
              <a:rPr lang="ru-RU" dirty="0">
                <a:latin typeface="Bahnschrift Light Condensed" panose="020B0502040204020203" pitchFamily="34" charset="0"/>
              </a:rPr>
            </a:br>
            <a:r>
              <a:rPr lang="ru-RU" dirty="0">
                <a:latin typeface="Bahnschrift Light Condensed" panose="020B0502040204020203" pitchFamily="34" charset="0"/>
              </a:rPr>
              <a:t>Класс отвечающий за механику передвижения и изменения спрайтов</a:t>
            </a:r>
            <a:r>
              <a:rPr lang="en-US" dirty="0">
                <a:latin typeface="Bahnschrift Light Condensed" panose="020B0502040204020203" pitchFamily="34" charset="0"/>
              </a:rPr>
              <a:t> </a:t>
            </a:r>
            <a:r>
              <a:rPr lang="ru-RU" dirty="0">
                <a:latin typeface="Bahnschrift Light Condensed" panose="020B0502040204020203" pitchFamily="34" charset="0"/>
              </a:rPr>
              <a:t>персонажа.</a:t>
            </a: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3CDEC604-617C-AFF4-F143-3E7719BDCD5A}"/>
              </a:ext>
            </a:extLst>
          </p:cNvPr>
          <p:cNvSpPr/>
          <p:nvPr/>
        </p:nvSpPr>
        <p:spPr>
          <a:xfrm>
            <a:off x="7702549" y="1849304"/>
            <a:ext cx="3886201" cy="1171922"/>
          </a:xfrm>
          <a:prstGeom prst="roundRect">
            <a:avLst/>
          </a:prstGeom>
          <a:gradFill flip="none" rotWithShape="1">
            <a:gsLst>
              <a:gs pos="0">
                <a:schemeClr val="lt1">
                  <a:shade val="30000"/>
                  <a:satMod val="115000"/>
                </a:schemeClr>
              </a:gs>
              <a:gs pos="50000">
                <a:schemeClr val="lt1">
                  <a:shade val="67500"/>
                  <a:satMod val="115000"/>
                </a:schemeClr>
              </a:gs>
              <a:gs pos="100000">
                <a:schemeClr val="lt1">
                  <a:shade val="100000"/>
                  <a:satMod val="115000"/>
                </a:schemeClr>
              </a:gs>
            </a:gsLst>
            <a:path path="circle">
              <a:fillToRect l="100000" t="100000"/>
            </a:path>
            <a:tileRect r="-100000" b="-100000"/>
          </a:gra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dirty="0">
                <a:latin typeface="Bahnschrift Light Condensed" panose="020B0502040204020203" pitchFamily="34" charset="0"/>
              </a:rPr>
              <a:t>С</a:t>
            </a:r>
            <a:r>
              <a:rPr lang="en-US" dirty="0">
                <a:latin typeface="Bahnschrift Light Condensed" panose="020B0502040204020203" pitchFamily="34" charset="0"/>
              </a:rPr>
              <a:t>lass </a:t>
            </a:r>
            <a:r>
              <a:rPr lang="en-US" dirty="0" err="1">
                <a:latin typeface="Bahnschrift Light Condensed" panose="020B0502040204020203" pitchFamily="34" charset="0"/>
              </a:rPr>
              <a:t>GameView</a:t>
            </a:r>
            <a:r>
              <a:rPr lang="en-US" dirty="0">
                <a:latin typeface="Bahnschrift Light Condensed" panose="020B0502040204020203" pitchFamily="34" charset="0"/>
              </a:rPr>
              <a:t>:</a:t>
            </a:r>
          </a:p>
          <a:p>
            <a:r>
              <a:rPr lang="ru-RU" dirty="0">
                <a:latin typeface="Bahnschrift Light Condensed" panose="020B0502040204020203" pitchFamily="34" charset="0"/>
              </a:rPr>
              <a:t>Класс отвечающий за регистрацию движений, позицию персонажа и все спрайты на экране. </a:t>
            </a:r>
            <a:br>
              <a:rPr lang="ru-RU" dirty="0">
                <a:latin typeface="Bahnschrift Light Condensed" panose="020B0502040204020203" pitchFamily="34" charset="0"/>
              </a:rPr>
            </a:br>
            <a:endParaRPr lang="ru-RU" dirty="0">
              <a:latin typeface="Bahnschrift Light Condensed" panose="020B0502040204020203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D37E456-67D3-82AE-9CA8-D3539BF1348C}"/>
              </a:ext>
            </a:extLst>
          </p:cNvPr>
          <p:cNvSpPr txBox="1"/>
          <p:nvPr/>
        </p:nvSpPr>
        <p:spPr>
          <a:xfrm>
            <a:off x="358774" y="1316501"/>
            <a:ext cx="35179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latin typeface="Bahnschrift" panose="020B0502040204020203" pitchFamily="34" charset="0"/>
              </a:rPr>
              <a:t>ИСПОЛЬЗУЕМЫЕ КЛАССЫ</a:t>
            </a:r>
            <a:r>
              <a:rPr lang="en-US" b="1" dirty="0">
                <a:latin typeface="Bahnschrift" panose="020B0502040204020203" pitchFamily="34" charset="0"/>
              </a:rPr>
              <a:t>:</a:t>
            </a:r>
            <a:endParaRPr lang="ru-RU" b="1" dirty="0">
              <a:latin typeface="Bahnschrift" panose="020B0502040204020203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4D7AD88-E224-001C-F884-0D1C57D9C725}"/>
              </a:ext>
            </a:extLst>
          </p:cNvPr>
          <p:cNvSpPr txBox="1"/>
          <p:nvPr/>
        </p:nvSpPr>
        <p:spPr>
          <a:xfrm>
            <a:off x="885824" y="1425486"/>
            <a:ext cx="2463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ru-RU" dirty="0">
                <a:latin typeface="Bahnschrift Light Condensed" panose="020B0502040204020203" pitchFamily="34" charset="0"/>
              </a:rPr>
            </a:br>
            <a:endParaRPr lang="ru-RU" dirty="0">
              <a:latin typeface="Bahnschrift Light Condensed" panose="020B0502040204020203" pitchFamily="34" charset="0"/>
            </a:endParaRPr>
          </a:p>
        </p:txBody>
      </p:sp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46EEC657-105F-6B7F-3EC0-198AB736C019}"/>
              </a:ext>
            </a:extLst>
          </p:cNvPr>
          <p:cNvSpPr/>
          <p:nvPr/>
        </p:nvSpPr>
        <p:spPr>
          <a:xfrm>
            <a:off x="3860799" y="3660684"/>
            <a:ext cx="3054349" cy="1200329"/>
          </a:xfrm>
          <a:prstGeom prst="roundRect">
            <a:avLst/>
          </a:prstGeom>
          <a:gradFill flip="none" rotWithShape="1">
            <a:gsLst>
              <a:gs pos="0">
                <a:schemeClr val="lt1">
                  <a:shade val="30000"/>
                  <a:satMod val="115000"/>
                </a:schemeClr>
              </a:gs>
              <a:gs pos="50000">
                <a:schemeClr val="lt1">
                  <a:shade val="67500"/>
                  <a:satMod val="115000"/>
                </a:schemeClr>
              </a:gs>
              <a:gs pos="100000">
                <a:schemeClr val="lt1">
                  <a:shade val="100000"/>
                  <a:satMod val="115000"/>
                </a:schemeClr>
              </a:gs>
            </a:gsLst>
            <a:path path="circle">
              <a:fillToRect l="100000" t="100000"/>
            </a:path>
            <a:tileRect r="-100000" b="-100000"/>
          </a:gra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dirty="0">
                <a:latin typeface="Bahnschrift Light Condensed" panose="020B0502040204020203" pitchFamily="34" charset="0"/>
              </a:rPr>
              <a:t>С</a:t>
            </a:r>
            <a:r>
              <a:rPr lang="en-US" dirty="0">
                <a:latin typeface="Bahnschrift Light Condensed" panose="020B0502040204020203" pitchFamily="34" charset="0"/>
              </a:rPr>
              <a:t>lass GameOverView:</a:t>
            </a:r>
            <a:r>
              <a:rPr lang="ru-RU" dirty="0">
                <a:latin typeface="Bahnschrift Light Condensed" panose="020B0502040204020203" pitchFamily="34" charset="0"/>
              </a:rPr>
              <a:t> Класс отвечающий за экран окончания игры.</a:t>
            </a: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A34CB0FA-0BB8-6857-C670-984EBADFC900}"/>
              </a:ext>
            </a:extLst>
          </p:cNvPr>
          <p:cNvSpPr/>
          <p:nvPr/>
        </p:nvSpPr>
        <p:spPr>
          <a:xfrm>
            <a:off x="295274" y="3660684"/>
            <a:ext cx="3054349" cy="1200329"/>
          </a:xfrm>
          <a:prstGeom prst="roundRect">
            <a:avLst/>
          </a:prstGeom>
          <a:gradFill flip="none" rotWithShape="1">
            <a:gsLst>
              <a:gs pos="0">
                <a:schemeClr val="lt1">
                  <a:shade val="30000"/>
                  <a:satMod val="115000"/>
                </a:schemeClr>
              </a:gs>
              <a:gs pos="50000">
                <a:schemeClr val="lt1">
                  <a:shade val="67500"/>
                  <a:satMod val="115000"/>
                </a:schemeClr>
              </a:gs>
              <a:gs pos="100000">
                <a:schemeClr val="lt1">
                  <a:shade val="100000"/>
                  <a:satMod val="115000"/>
                </a:schemeClr>
              </a:gs>
            </a:gsLst>
            <a:path path="circle">
              <a:fillToRect l="100000" t="100000"/>
            </a:path>
            <a:tileRect r="-100000" b="-100000"/>
          </a:gra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dirty="0">
                <a:latin typeface="Bahnschrift Light Condensed" panose="020B0502040204020203" pitchFamily="34" charset="0"/>
              </a:rPr>
              <a:t>С</a:t>
            </a:r>
            <a:r>
              <a:rPr lang="en-US" dirty="0">
                <a:latin typeface="Bahnschrift Light Condensed" panose="020B0502040204020203" pitchFamily="34" charset="0"/>
              </a:rPr>
              <a:t>lass </a:t>
            </a:r>
            <a:r>
              <a:rPr lang="en-US" dirty="0" err="1">
                <a:latin typeface="Bahnschrift Light Condensed" panose="020B0502040204020203" pitchFamily="34" charset="0"/>
              </a:rPr>
              <a:t>MainMenu</a:t>
            </a:r>
            <a:r>
              <a:rPr lang="en-US" dirty="0">
                <a:latin typeface="Bahnschrift Light Condensed" panose="020B0502040204020203" pitchFamily="34" charset="0"/>
              </a:rPr>
              <a:t>:</a:t>
            </a:r>
            <a:r>
              <a:rPr lang="ru-RU" dirty="0">
                <a:latin typeface="Bahnschrift Light Condensed" panose="020B0502040204020203" pitchFamily="34" charset="0"/>
              </a:rPr>
              <a:t> Класс отвечающий за корректную работу кнопок в главном меню</a:t>
            </a:r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899C987E-4148-49CD-141B-00DC04F7A6CE}"/>
              </a:ext>
            </a:extLst>
          </p:cNvPr>
          <p:cNvSpPr/>
          <p:nvPr/>
        </p:nvSpPr>
        <p:spPr>
          <a:xfrm>
            <a:off x="8223250" y="3660683"/>
            <a:ext cx="3054349" cy="1200329"/>
          </a:xfrm>
          <a:prstGeom prst="roundRect">
            <a:avLst/>
          </a:prstGeom>
          <a:gradFill flip="none" rotWithShape="1">
            <a:gsLst>
              <a:gs pos="0">
                <a:schemeClr val="lt1">
                  <a:shade val="30000"/>
                  <a:satMod val="115000"/>
                </a:schemeClr>
              </a:gs>
              <a:gs pos="50000">
                <a:schemeClr val="lt1">
                  <a:shade val="67500"/>
                  <a:satMod val="115000"/>
                </a:schemeClr>
              </a:gs>
              <a:gs pos="100000">
                <a:schemeClr val="lt1">
                  <a:shade val="100000"/>
                  <a:satMod val="115000"/>
                </a:schemeClr>
              </a:gs>
            </a:gsLst>
            <a:path path="circle">
              <a:fillToRect l="100000" t="100000"/>
            </a:path>
            <a:tileRect r="-100000" b="-100000"/>
          </a:gra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GB" dirty="0">
                <a:latin typeface="Bahnschrift Light Condensed" panose="020B0502040204020203" pitchFamily="34" charset="0"/>
              </a:rPr>
              <a:t>Class </a:t>
            </a:r>
            <a:r>
              <a:rPr lang="en-GB" dirty="0" err="1">
                <a:latin typeface="Bahnschrift Light Condensed" panose="020B0502040204020203" pitchFamily="34" charset="0"/>
              </a:rPr>
              <a:t>DifficultyView</a:t>
            </a:r>
            <a:r>
              <a:rPr lang="en-GB" dirty="0">
                <a:latin typeface="Bahnschrift Light Condensed" panose="020B0502040204020203" pitchFamily="34" charset="0"/>
              </a:rPr>
              <a:t>:</a:t>
            </a:r>
            <a:r>
              <a:rPr lang="ru-RU" dirty="0">
                <a:latin typeface="Bahnschrift Light Condensed" panose="020B0502040204020203" pitchFamily="34" charset="0"/>
              </a:rPr>
              <a:t> Класс отвечающий за работу режимов сложности.</a:t>
            </a:r>
          </a:p>
        </p:txBody>
      </p:sp>
    </p:spTree>
    <p:extLst>
      <p:ext uri="{BB962C8B-B14F-4D97-AF65-F5344CB8AC3E}">
        <p14:creationId xmlns:p14="http://schemas.microsoft.com/office/powerpoint/2010/main" val="183006676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285</TotalTime>
  <Words>207</Words>
  <Application>Microsoft Office PowerPoint</Application>
  <PresentationFormat>Широкоэкранный</PresentationFormat>
  <Paragraphs>17</Paragraphs>
  <Slides>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</vt:i4>
      </vt:variant>
    </vt:vector>
  </HeadingPairs>
  <TitlesOfParts>
    <vt:vector size="9" baseType="lpstr">
      <vt:lpstr>Arial</vt:lpstr>
      <vt:lpstr>Bahnschrift</vt:lpstr>
      <vt:lpstr>Bahnschrift Light Condensed</vt:lpstr>
      <vt:lpstr>Calibri</vt:lpstr>
      <vt:lpstr>Calibri Light</vt:lpstr>
      <vt:lpstr>Тема Office</vt:lpstr>
      <vt:lpstr>Проект Arcade “Cafe dash”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_ _</dc:creator>
  <cp:lastModifiedBy>_ _</cp:lastModifiedBy>
  <cp:revision>5</cp:revision>
  <dcterms:created xsi:type="dcterms:W3CDTF">2026-02-26T10:31:13Z</dcterms:created>
  <dcterms:modified xsi:type="dcterms:W3CDTF">2026-03-12T13:38:25Z</dcterms:modified>
</cp:coreProperties>
</file>